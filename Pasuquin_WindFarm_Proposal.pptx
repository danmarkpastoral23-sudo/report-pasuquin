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91440"/>
            <a:ext cx="164592" cy="50292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31152" y="91440"/>
            <a:ext cx="164592" cy="502920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78624" y="91440"/>
            <a:ext cx="164592" cy="5029200"/>
          </a:xfrm>
          <a:prstGeom prst="rect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6096" y="91440"/>
            <a:ext cx="164592" cy="5029200"/>
          </a:xfrm>
          <a:prstGeom prst="rect">
            <a:avLst/>
          </a:prstGeom>
          <a:solidFill>
            <a:srgbClr val="00B4D8">
              <a:alpha val="36000"/>
            </a:srgbClr>
          </a:solidFill>
          <a:ln w="12700">
            <a:solidFill>
              <a:srgbClr val="00B4D8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91440"/>
            <a:ext cx="164592" cy="5029200"/>
          </a:xfrm>
          <a:prstGeom prst="rect">
            <a:avLst/>
          </a:prstGeom>
          <a:solidFill>
            <a:srgbClr val="00B4D8">
              <a:alpha val="44000"/>
            </a:srgbClr>
          </a:solidFill>
          <a:ln w="12700">
            <a:solidFill>
              <a:srgbClr val="00B4D8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91440"/>
            <a:ext cx="164592" cy="5029200"/>
          </a:xfrm>
          <a:prstGeom prst="rect">
            <a:avLst/>
          </a:prstGeom>
          <a:solidFill>
            <a:srgbClr val="00B4D8">
              <a:alpha val="52000"/>
            </a:srgbClr>
          </a:solidFill>
          <a:ln w="12700">
            <a:solidFill>
              <a:srgbClr val="00B4D8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"/>
            <a:ext cx="384048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0E0EF"/>
                </a:solidFill>
              </a:rPr>
              <a:t>PANGASINAN STATE UNIVERSITY  |  BSME-4A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WINDMILL PROJECT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1600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54864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8716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AF0F8"/>
                </a:solidFill>
              </a:rPr>
              <a:t>A Feasibility and Siting Study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AF0F8"/>
                </a:solidFill>
              </a:rPr>
              <a:t>Pasuquin, Ilocos Norte, Philippines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76072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CC4"/>
                </a:solidFill>
              </a:rPr>
              <a:t>Submitted by: Dan Mark C. Pastoral   |   April 29, 2026   |   Engr. Marfel D. Rosario, PME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07408"/>
            <a:ext cx="2560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07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50–100 MW  |  20 Turbines  |  Luzon Grid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4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47548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5486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Project Location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1704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Pasuquin, Ilocos Norte, Philippines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59536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64208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190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Target Capacity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7190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~50–100 MW (expandable)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8595360" cy="47548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12848"/>
            <a:ext cx="54864" cy="47548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</a:rPr>
              <a:t>Turbine 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2677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Horizontal Axis Wind Turbine (HAWT)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859536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61488"/>
            <a:ext cx="54864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16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Estimated Turbines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28163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15–30 units (3–5 MW each)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10128"/>
            <a:ext cx="8595360" cy="47548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10128"/>
            <a:ext cx="54864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649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Grid Connection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3649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Luzon Grid via NGCP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858768"/>
            <a:ext cx="859536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58768"/>
            <a:ext cx="54864" cy="47548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</a:rPr>
              <a:t>Project Lifespan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08960" y="39136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25–30 years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407408"/>
            <a:ext cx="8595360" cy="47548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407408"/>
            <a:ext cx="54864" cy="4754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62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Key Benefit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08960" y="44622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Clean, renewable baseload power for Ilocos Norte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II — SITE SELECTION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Pasuquin, Ilocos Norte?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59436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High Wind Power Density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7–9 m/s average (Class 4–5). Located along Northwest Luzon Wind Corridor exposed to Northeast Monsoon (Amihan). Capacity factor: 35–45%.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8595360" cy="65836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59436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653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Strategic Coastal &amp; Hilly Terrain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Coastal plains for sea wind capture + ridge areas for high-velocity winds at altitude. Maximizes energy output per turbine.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65836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15184"/>
            <a:ext cx="59436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Proximity to 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443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Near Bangui &amp; Burgos wind farms. NGCP transmission grid and heavy-haul routes already established in Ilocos Norte.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8595360" cy="65836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64992"/>
            <a:ext cx="594360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6499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19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Eco-Tourism Potential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69417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Dual purpose: power plant + tourist landmark (similar to Bangui Wind Farm). Boosts local economy and small businesses.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65836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14800"/>
            <a:ext cx="594360" cy="6583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148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169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</a:rPr>
              <a:t>Sustainability &amp; Energy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4439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Reduces fossil fuel reliance. Wind is free and inexhaustible — hedge against volatile coal/oil prices. Supports PH climate goals.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II-B — PROCESS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Wind-to-Grid Energy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463040"/>
            <a:ext cx="10789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WIND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RESOURCE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Amihan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7–9 m/s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07592" y="1965960"/>
            <a:ext cx="164592" cy="91440"/>
          </a:xfrm>
          <a:prstGeom prst="rect">
            <a:avLst/>
          </a:prstGeom>
          <a:solidFill>
            <a:srgbClr val="8EACC4"/>
          </a:solidFill>
          <a:ln w="12700">
            <a:solidFill>
              <a:srgbClr val="8EA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CC4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90472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0472" y="1463040"/>
            <a:ext cx="1078992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ROTOR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BLADES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90472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3 Blades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63.5 m each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9464" y="1965960"/>
            <a:ext cx="164592" cy="91440"/>
          </a:xfrm>
          <a:prstGeom prst="rect">
            <a:avLst/>
          </a:prstGeom>
          <a:solidFill>
            <a:srgbClr val="8EACC4"/>
          </a:solidFill>
          <a:ln w="12700">
            <a:solidFill>
              <a:srgbClr val="8EAC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5184" y="190195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CC4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52344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2344" y="1463040"/>
            <a:ext cx="1078992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52344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GEARBOX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52344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1:90 ratio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1,500 RPM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31336" y="1965960"/>
            <a:ext cx="164592" cy="91440"/>
          </a:xfrm>
          <a:prstGeom prst="rect">
            <a:avLst/>
          </a:prstGeom>
          <a:solidFill>
            <a:srgbClr val="8EACC4"/>
          </a:solidFill>
          <a:ln w="12700">
            <a:solidFill>
              <a:srgbClr val="8EA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190195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CC4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14216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14216" y="1463040"/>
            <a:ext cx="107899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</a:rPr>
              <a:t>DFIG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</a:rPr>
              <a:t>GENERATOR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14216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690 V AC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60 Hz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93208" y="1965960"/>
            <a:ext cx="164592" cy="91440"/>
          </a:xfrm>
          <a:prstGeom prst="rect">
            <a:avLst/>
          </a:prstGeom>
          <a:solidFill>
            <a:srgbClr val="8EACC4"/>
          </a:solidFill>
          <a:ln w="12700">
            <a:solidFill>
              <a:srgbClr val="8EAC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190195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CC4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76088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FB7185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76088" y="1463040"/>
            <a:ext cx="1078992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7185"/>
                </a:solidFill>
              </a:rPr>
              <a:t>TRANSFORMER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B7185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6088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690V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33 kV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1965960"/>
            <a:ext cx="164592" cy="91440"/>
          </a:xfrm>
          <a:prstGeom prst="rect">
            <a:avLst/>
          </a:prstGeom>
          <a:solidFill>
            <a:srgbClr val="8EACC4"/>
          </a:solidFill>
          <a:ln w="12700">
            <a:solidFill>
              <a:srgbClr val="8EAC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90195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CC4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37960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90E0EF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1463040"/>
            <a:ext cx="1078992" cy="640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</a:rPr>
              <a:t>SUBSTATION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</a:rPr>
              <a:t>33kV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33kV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115 kV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16952" y="1965960"/>
            <a:ext cx="164592" cy="91440"/>
          </a:xfrm>
          <a:prstGeom prst="rect">
            <a:avLst/>
          </a:prstGeom>
          <a:solidFill>
            <a:srgbClr val="8EACC4"/>
          </a:solidFill>
          <a:ln w="12700">
            <a:solidFill>
              <a:srgbClr val="8EAC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62672" y="190195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CC4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99832" y="1463040"/>
            <a:ext cx="1078992" cy="1143000"/>
          </a:xfrm>
          <a:prstGeom prst="rect">
            <a:avLst/>
          </a:prstGeom>
          <a:solidFill>
            <a:srgbClr val="0E1E35"/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9832" y="1463040"/>
            <a:ext cx="1078992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99832" y="155448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LUZON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GRID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99832" y="2057400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115 kV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~5.58 MW net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2788920"/>
            <a:ext cx="859536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8072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Energy Balance: Wind 13.96 MW  →  Aero Loss 7.68 MW  →  Gearbox 6.03 MW  →  Generator 5.85 MW  →  Net Grid Delivery: 5.58 MW/turbine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429000"/>
            <a:ext cx="4114800" cy="822960"/>
          </a:xfrm>
          <a:prstGeom prst="rect">
            <a:avLst/>
          </a:prstGeom>
          <a:solidFill>
            <a:srgbClr val="0E1E35"/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SCADA System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3749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Real-time monitoring: power output, vibration, temperature, fault alarms — all 20 turbines via OPC-UA protocol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429000"/>
            <a:ext cx="4206240" cy="822960"/>
          </a:xfrm>
          <a:prstGeom prst="rect">
            <a:avLst/>
          </a:prstGeom>
          <a:solidFill>
            <a:srgbClr val="0E1E35"/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Support Systems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54880" y="3749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Pitch/yaw control  •  Emergency braking  •  Power converter  •  Auxiliary diesel genset (500 kVA)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III — TECHNICAL SPECS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Turbine Specifications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521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Turbine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15214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3-Bladed Horizontal Axis Wind Turbine (HAWT)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36192"/>
            <a:ext cx="54864" cy="365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Rated Capacity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157276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3.0 – 5.0 MW per unit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56816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56816"/>
            <a:ext cx="54864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93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Rotor Diameter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19933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120 – 145 meters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77440"/>
            <a:ext cx="54864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140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Hub Height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2414016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90 – 110 meters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98064"/>
            <a:ext cx="54864" cy="3657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Cut-in Wind Speed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28346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3.0 m/s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115568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115568"/>
            <a:ext cx="54864" cy="365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1521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Rated Wind Speed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115214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12 – 14 m/s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536192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536192"/>
            <a:ext cx="54864" cy="36576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5727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</a:rPr>
              <a:t>Cut-out Wind Speed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157276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25 m/s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956816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956816"/>
            <a:ext cx="54864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9933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Blade Material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199339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Fiberglass-reinforced epoxy composite (GFRP)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377440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377440"/>
            <a:ext cx="54864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4140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Generator Type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2414016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Doubly Fed Induction Generator (DFIG)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798064"/>
            <a:ext cx="4206240" cy="36576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798064"/>
            <a:ext cx="54864" cy="3657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Design Lifespan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28346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25 years (with scheduled maintenance)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DESIGN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Engineering Basis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11704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25296"/>
            <a:ext cx="475488" cy="475488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25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2435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Betz Limit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556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Max 59.3% wind energy extractable. At V=8.5 m/s, 130m rotor → 27.7 MW available → 5.0 MW practical rated output after losses.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206240" cy="11704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42062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225296"/>
            <a:ext cx="475488" cy="475488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225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C2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2435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Wake Effect Spacing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7D inline (910 m) × 4D crosswind (520 m) spacing to minimize turbulence losses between turbines.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14016"/>
            <a:ext cx="4206240" cy="11704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14016"/>
            <a:ext cx="4206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23744"/>
            <a:ext cx="475488" cy="475488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237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C3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5420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Wind Shear (Hub Ht.)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30540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Power Law: V(100m)=8.19 m/s (+26% vs ground). Since P∝V³, this gives ~2× more power justifying 100m towers.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14016"/>
            <a:ext cx="4206240" cy="11704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414016"/>
            <a:ext cx="420624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523744"/>
            <a:ext cx="475488" cy="475488"/>
          </a:xfrm>
          <a:prstGeom prst="rect">
            <a:avLst/>
          </a:prstGeom>
          <a:solidFill>
            <a:srgbClr val="FB7185">
              <a:alpha val="2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5237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7185"/>
                </a:solidFill>
              </a:rPr>
              <a:t>C4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25420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7185"/>
                </a:solidFill>
              </a:rPr>
              <a:t>Safety Setbacks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305409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≥500m from residences (noise &lt;45dB). ≥200m from coastline (storm surge buffer). Non-negotiable regulatory requirement.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12464"/>
            <a:ext cx="4206240" cy="11704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12464"/>
            <a:ext cx="4206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822192"/>
            <a:ext cx="475488" cy="475488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822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</a:rPr>
              <a:t>C5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Grid Voltage (33 kV)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435254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Collection at 33 kV — industry standard up to 200 MW. Step-up 3.48:1 transformer to 115 kV for NGCP Ilocos Norte grid.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712464"/>
            <a:ext cx="4206240" cy="11704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712464"/>
            <a:ext cx="420624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8888" y="3822192"/>
            <a:ext cx="475488" cy="475488"/>
          </a:xfrm>
          <a:prstGeom prst="rect">
            <a:avLst/>
          </a:prstGeom>
          <a:solidFill>
            <a:srgbClr val="90E0EF">
              <a:alpha val="25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822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</a:rPr>
              <a:t>C6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94960" y="3840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Foundation Loads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18888" y="435254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F0F8"/>
                </a:solidFill>
              </a:rPr>
              <a:t>Overturning moment = 115,000 kN·m. Octagonal RC mat 21m wide. Safety factor = 2.30 ≥ 1.5 required. 144 anchor bolts at 65% utilization.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III-A — CALCULATIONS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Engineering Calculations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683726"/>
          </a:xfrm>
          <a:prstGeom prst="rect">
            <a:avLst/>
          </a:prstGeom>
          <a:solidFill>
            <a:srgbClr val="0E1E35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Wind Power Density (Betz)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</a:rPr>
              <a:t>P = ½ × ρ × A × V³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9339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Rotor radius (r)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99339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65 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2257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Swept area (A)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32257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13,273 m²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5176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Air density (ρ)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1.225 kg/m³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80944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Wind speed (V)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98094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8.5 m/s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10128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101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Available power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1760" y="33101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~27.7 MW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3931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After Betz (×0.593)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6393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~16.4 MW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968496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684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After drivetrain losses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396849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~11.5 MW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297680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9768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Practical rated 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429768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</a:rPr>
              <a:t>5.0 MW 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097280"/>
            <a:ext cx="4160520" cy="3683726"/>
          </a:xfrm>
          <a:prstGeom prst="rect">
            <a:avLst/>
          </a:prstGeom>
          <a:solidFill>
            <a:srgbClr val="0E1E35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09728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161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Capacity Factor &amp; Annual Energy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</a:rPr>
              <a:t>CF = AEP ÷ (MW × 8,760 hrs)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1993392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99339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Rated capacity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199339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5.0 MW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322576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32257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Hours/year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86600" y="232257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8,760 hrs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651760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265176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Max theoretical AEP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265176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43,800 MWh/yr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980944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980944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Capacity factor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86600" y="298094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38%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310128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3101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Gross AEP/turbine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86600" y="3310128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16,644 MWh/yr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3639312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639312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Electrical losses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86600" y="36393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7% (1,165 MWh)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968496"/>
            <a:ext cx="4069080" cy="3017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9684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Net AEP/turbine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86600" y="3968496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0E0EF"/>
                </a:solidFill>
              </a:rPr>
              <a:t>15,479 MWh/yr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4297680"/>
            <a:ext cx="4069080" cy="301752"/>
          </a:xfrm>
          <a:prstGeom prst="rect">
            <a:avLst/>
          </a:prstGeom>
          <a:solidFill>
            <a:srgbClr val="1225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429768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Total AEP (20 units)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86600" y="429768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</a:rPr>
              <a:t>309,580 MWh/yr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IV — PLANT SITING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Site Layout &amp; Configuration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06240" cy="42062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54864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95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Turbines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1795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20 WTGs (5 rows × 4 units)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06240" cy="42062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15568"/>
            <a:ext cx="54864" cy="42062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795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Inline spacing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11795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7D = 910 m (wake recovery)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618488"/>
            <a:ext cx="4206240" cy="42062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18488"/>
            <a:ext cx="54864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682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Cross-wind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16824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4D = 520 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618488"/>
            <a:ext cx="4206240" cy="42062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618488"/>
            <a:ext cx="54864" cy="42062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82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Gross area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16824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~9.46 km²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121408"/>
            <a:ext cx="4206240" cy="42062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121408"/>
            <a:ext cx="54864" cy="42062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1854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</a:rPr>
              <a:t>Setback: homes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21854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≥500 m (noise &lt;45dB)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121408"/>
            <a:ext cx="4206240" cy="42062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121408"/>
            <a:ext cx="54864" cy="42062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854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</a:rPr>
              <a:t>Setback: coast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1854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≥200 m (storm surge buffer)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A261"/>
                </a:solidFill>
              </a:rPr>
              <a:t>ANCILLARY FACILITIES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127248"/>
            <a:ext cx="8595360" cy="320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Maintenance Workshop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31272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Storage: spare parts, gearbox oil, blade tools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483864"/>
            <a:ext cx="859536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483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Control Room / SCADA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348386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24/7 supervisory wind-farm control center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On-site Substation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17520" y="3840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33/115 kV step-up transformer + switchgear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97096"/>
            <a:ext cx="859536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197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Emergency Fire Station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0" y="419709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Nacelle fire response, high-angle rescue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553712"/>
            <a:ext cx="8595360" cy="320040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Eco-Tourism Center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017520" y="45537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Public viewing deck, exhibits — like Bangui Wind Farm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V — ENVIRONMENTAL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Environmental Impact Assessment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" cy="1783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4D399"/>
                </a:solidFill>
              </a:rPr>
              <a:t>POSITIVE IMPACTS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9144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898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GHG Reduction — each 5 MW turbine avoids ~8,000–10,000 tonnes CO₂/year vs coal power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783080"/>
            <a:ext cx="9144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373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Zero direct air pollutant emissions during operation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130552"/>
            <a:ext cx="9144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848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Small physical footprint — land between turbines usable for agriculture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478024"/>
            <a:ext cx="9144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3230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No water discharge; no thermal pollution to Luzon Strait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99232"/>
            <a:ext cx="54864" cy="19202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7185"/>
                </a:solidFill>
              </a:rPr>
              <a:t>POTENTIAL IMPACTS &amp; MITIGATION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337560"/>
            <a:ext cx="8503920" cy="32918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375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</a:rPr>
              <a:t>Bird/bat mortality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333756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Radar-based curtailment during migration season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721608"/>
            <a:ext cx="8503920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21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</a:rPr>
              <a:t>Noise pollution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72160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500m setback; low-noise models; quarterly monitoring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105656"/>
            <a:ext cx="8503920" cy="329184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056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</a:rPr>
              <a:t>Visual/landscape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410565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Community consultation; Bangui aesthetic branding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4489704"/>
            <a:ext cx="8503920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4897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7185"/>
                </a:solidFill>
              </a:rPr>
              <a:t>Shadow flicker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448970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Model flicker zones; adjust operating hours if needed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SECTION VI — FINANCIAL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Financial &amp; Economic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2240280"/>
          </a:xfrm>
          <a:prstGeom prst="rect">
            <a:avLst/>
          </a:prstGeom>
          <a:solidFill>
            <a:srgbClr val="0E1E35"/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605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CAPITAL EXPENDITURE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Wind Turbines (15–30 units)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5361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PHP 3.0–6.0 Billion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Civil Works &amp; Foundations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828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PHP 450–900 Million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21408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214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Electrical &amp; Substation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1214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PHP 300–600 Million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14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Grid Connection (NGCP)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4140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PHP 200–500 Million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06624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066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Development &amp; EIS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7066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PHP 50–100 Million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4069080" cy="25603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99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TOTAL CAPEX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4A261"/>
                </a:solidFill>
              </a:rPr>
              <a:t>PHP 4.4–8.9 Billion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097280"/>
            <a:ext cx="4160520" cy="2240280"/>
          </a:xfrm>
          <a:prstGeom prst="rect">
            <a:avLst/>
          </a:prstGeom>
          <a:solidFill>
            <a:srgbClr val="0E1E35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097280"/>
            <a:ext cx="4160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161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REVENUE PROJECTIONS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536192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Installed Capacity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50–100 MW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828800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828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Capacity Factor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38% average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121408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1214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Annual Energy 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166–332 GWh/year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414016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414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FiT Rate (ERC)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24140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PHP 8.53/kWh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706624"/>
            <a:ext cx="4069080" cy="256032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7066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Gross Annual Revenue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03720" y="2706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D399"/>
                </a:solidFill>
              </a:rPr>
              <a:t>PHP 1.42–2.83 Billion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2999232"/>
            <a:ext cx="4069080" cy="25603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9992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F0F8"/>
                </a:solidFill>
              </a:rPr>
              <a:t>Simple Payback Period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E0EF"/>
                </a:solidFill>
              </a:rPr>
              <a:t>8–12 years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0E0EF"/>
                </a:solidFill>
              </a:rPr>
              <a:t>ECONOMIC &amp; SOCIAL BENEFITS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813048"/>
            <a:ext cx="8595360" cy="29260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813048"/>
            <a:ext cx="54864" cy="2926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813048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50–100 permanent jobs during operations  •  300–500 construction jobs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4160520"/>
            <a:ext cx="8595360" cy="29260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160520"/>
            <a:ext cx="54864" cy="2926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160520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Real property tax &amp; business tax to Pasuquin LGU  •  Eco-tourism revenue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507992"/>
            <a:ext cx="8595360" cy="292608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507992"/>
            <a:ext cx="54864" cy="2926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507992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F0F8"/>
                </a:solidFill>
              </a:rPr>
              <a:t>Reduces fossil fuel dependence  •  Stabilizes long-term energy prices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CONCLUSION &amp; 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7589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640080" cy="7589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640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23444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Technically Feasible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563624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Pasuquin's Class 4–5 wind resource, 38% capacity factor, and existing NGCP infrastructure make the project viable using standard HAWT technology.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39112"/>
            <a:ext cx="8595360" cy="7589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39112"/>
            <a:ext cx="640080" cy="7589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39112"/>
            <a:ext cx="640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1031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Economically Viable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432304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PHP 4.4–8.9B CAPEX, PHP 8.53/kWh FiT rate, and 8–12 year simple payback period over a 25-year project life deliver strong long-term returns.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8595360" cy="7589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07792"/>
            <a:ext cx="640080" cy="7589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07792"/>
            <a:ext cx="640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297180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Environmentally Responsible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300984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Avoids ~160,000–200,000 tonnes CO₂/year. Zero water discharge. Small footprint. Full EIS and ECC compliance with DENR and DOE.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76472"/>
            <a:ext cx="8595360" cy="758952"/>
          </a:xfrm>
          <a:prstGeom prst="rect">
            <a:avLst/>
          </a:prstGeom>
          <a:solidFill>
            <a:srgbClr val="0E1E35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76472"/>
            <a:ext cx="640080" cy="7589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76472"/>
            <a:ext cx="6400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84048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Serves ~77,400 Households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4169664"/>
            <a:ext cx="7726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</a:rPr>
              <a:t>Total net AEP of 309,580 MWh/year from 20 turbines. Supports PH 35% RE target by 2030 under RA 9513.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000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CC4"/>
                </a:solidFill>
              </a:rPr>
              <a:t>Dan Mark C. Pastoral  |  BSME-4A  |  Pangasinan State University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1289</Words>
  <Application>Microsoft Office PowerPoint</Application>
  <PresentationFormat>On-screen Show (16:9)</PresentationFormat>
  <Paragraphs>259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Pasuquin Wind Farm - Windmill Project Proposal</dc:title>
  <dc:subject>PptxGenJS Presentation</dc:subject>
  <dc:creator>PptxGenJS</dc:creator>
  <cp:lastModifiedBy>Dan Mark Pastoral</cp:lastModifiedBy>
  <cp:revision>2</cp:revision>
  <dcterms:created xsi:type="dcterms:W3CDTF">2026-05-20T14:25:45Z</dcterms:created>
  <dcterms:modified xsi:type="dcterms:W3CDTF">2026-05-20T15:01:17Z</dcterms:modified>
</cp:coreProperties>
</file>